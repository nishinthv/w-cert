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embeddedFontLst>
    <p:embeddedFont>
      <p:font typeface="DM Sans" panose="020F0502020204030204" pitchFamily="2" charset="0"/>
      <p:regular r:id="rId23"/>
      <p:bold r:id="rId24"/>
      <p:italic r:id="rId25"/>
      <p:boldItalic r:id="rId26"/>
    </p:embeddedFont>
    <p:embeddedFont>
      <p:font typeface="Urbanist" panose="020B060402020202020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807F49-AF87-4572-B069-770B760C9373}">
  <a:tblStyle styleId="{3F807F49-AF87-4572-B069-770B760C937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3df1b2b1a5d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3df1b2b1a5d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1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hyperlink" Target="https://ieeexplore.ieee.org/document/11052102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19750" y="4494758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95300" y="1772691"/>
            <a:ext cx="11201400" cy="23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W-CERT:</a:t>
            </a:r>
            <a:endParaRPr sz="4800" b="1" i="0" u="none" strike="noStrike" cap="none">
              <a:solidFill>
                <a:srgbClr val="F8FAFC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WOMEN-CENTRIC</a:t>
            </a: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Cyber Emergency Response &amp; Threat-Analysis Framework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38162" y="4370933"/>
            <a:ext cx="47005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Students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4809083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Nishinth Venkatesh | Ayush Dhore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62000" y="5190083"/>
            <a:ext cx="4476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Neel Karnavat | Sarthak Paymode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67375" y="4542383"/>
            <a:ext cx="85725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6953250" y="4370933"/>
            <a:ext cx="4700587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Under the Guidance of: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953250" y="4809083"/>
            <a:ext cx="447675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Dr. Vinayak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Musale</a:t>
            </a:r>
            <a:endParaRPr dirty="0"/>
          </a:p>
        </p:txBody>
      </p:sp>
      <p:sp>
        <p:nvSpPr>
          <p:cNvPr id="93" name="Google Shape;93;p13"/>
          <p:cNvSpPr txBox="1"/>
          <p:nvPr/>
        </p:nvSpPr>
        <p:spPr>
          <a:xfrm>
            <a:off x="6953250" y="5190083"/>
            <a:ext cx="44769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BTech. CSE (Cybersecurity &amp; Digital Forensics)</a:t>
            </a:r>
            <a:endParaRPr/>
          </a:p>
        </p:txBody>
      </p:sp>
      <p:pic>
        <p:nvPicPr>
          <p:cNvPr id="94" name="Google Shape;94;p13"/>
          <p:cNvPicPr preferRelativeResize="0"/>
          <p:nvPr/>
        </p:nvPicPr>
        <p:blipFill rotWithShape="1">
          <a:blip r:embed="rId6">
            <a:alphaModFix/>
          </a:blip>
          <a:srcRect l="20" r="20"/>
          <a:stretch/>
        </p:blipFill>
        <p:spPr>
          <a:xfrm>
            <a:off x="4098875" y="648600"/>
            <a:ext cx="3567600" cy="9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98878" y="1772700"/>
            <a:ext cx="685375" cy="76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147762"/>
            <a:ext cx="34290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1147762"/>
            <a:ext cx="34290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0" y="1147762"/>
            <a:ext cx="34290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967162"/>
            <a:ext cx="34290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81500" y="3967162"/>
            <a:ext cx="34290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00" y="3967162"/>
            <a:ext cx="342900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190750" y="14430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986313" y="209073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Team Perspective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057275" y="25288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Literature Survey, Requirements, System Design, and Technical Pillars.</a:t>
            </a:r>
            <a:endParaRPr/>
          </a:p>
        </p:txBody>
      </p:sp>
      <p:pic>
        <p:nvPicPr>
          <p:cNvPr id="110" name="Google Shape;11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67400" y="14430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4"/>
          <p:cNvSpPr txBox="1"/>
          <p:nvPr/>
        </p:nvSpPr>
        <p:spPr>
          <a:xfrm>
            <a:off x="4605813" y="209073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Implementation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676775" y="25288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XAI Authenticity, Forensic Cryptography, and Threat Intel Modeling.</a:t>
            </a:r>
            <a:endParaRPr/>
          </a:p>
        </p:txBody>
      </p:sp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458325" y="144303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8225313" y="209073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Performance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8296275" y="25288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Testing Methodology, Experimental Results, and Data Visualization.</a:t>
            </a:r>
            <a:endParaRPr/>
          </a:p>
        </p:txBody>
      </p:sp>
      <p:pic>
        <p:nvPicPr>
          <p:cNvPr id="116" name="Google Shape;116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190750" y="42624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 txBox="1"/>
          <p:nvPr/>
        </p:nvSpPr>
        <p:spPr>
          <a:xfrm>
            <a:off x="986313" y="491013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Individual Details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57275" y="53482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Aims, Objectives, and specialized Module Contributions per member.</a:t>
            </a:r>
            <a:endParaRPr/>
          </a:p>
        </p:txBody>
      </p:sp>
      <p:pic>
        <p:nvPicPr>
          <p:cNvPr id="119" name="Google Shape;119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38825" y="4262437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4605813" y="491013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Outcomes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4676775" y="534828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Publication Details, References, and Accomplishments of the Project.</a:t>
            </a:r>
            <a:endParaRPr/>
          </a:p>
        </p:txBody>
      </p:sp>
      <p:pic>
        <p:nvPicPr>
          <p:cNvPr id="122" name="Google Shape;122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486900" y="4262437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4"/>
          <p:cNvSpPr txBox="1"/>
          <p:nvPr/>
        </p:nvSpPr>
        <p:spPr>
          <a:xfrm>
            <a:off x="8225313" y="491013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Future Scope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8296275" y="5348287"/>
            <a:ext cx="2838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Blockchain Integration and Real-Time Video Forensic Analytics.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1000125" y="261937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Presentation Agenda</a:t>
            </a:r>
            <a:endParaRPr/>
          </a:p>
        </p:txBody>
      </p:sp>
      <p:sp>
        <p:nvSpPr>
          <p:cNvPr id="126" name="Google Shape;126;p14"/>
          <p:cNvSpPr/>
          <p:nvPr/>
        </p:nvSpPr>
        <p:spPr>
          <a:xfrm>
            <a:off x="762000" y="261937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919662"/>
            <a:ext cx="1066800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985962"/>
            <a:ext cx="5048250" cy="255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1985962"/>
            <a:ext cx="5048250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603915" y="5167300"/>
            <a:ext cx="10995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W-CERT provides "Glass-Box" transparency through Threat Intelligence &amp; Explainable AI (XAI).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057275" y="228123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Opaque Evidence Analysis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1057275" y="2719387"/>
            <a:ext cx="44577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Traditional forensic platforms treat machine learning as a "black box." Detection outputs lack transparency, making them legally inadmissible because the underlying reasoning is hidden from judicial scrutiny.</a:t>
            </a:r>
            <a:endParaRPr/>
          </a:p>
        </p:txBody>
      </p:sp>
      <p:sp>
        <p:nvSpPr>
          <p:cNvPr id="138" name="Google Shape;138;p15"/>
          <p:cNvSpPr txBox="1"/>
          <p:nvPr/>
        </p:nvSpPr>
        <p:spPr>
          <a:xfrm>
            <a:off x="6677025" y="2281237"/>
            <a:ext cx="468058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Critical Manual Latency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6677025" y="2719387"/>
            <a:ext cx="4457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Manual triage of cyber incidents introduces dangerous latency. Proliferating deepfakes and synthetic media compromise digital artifacts faster than manual inspection can verify.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"Black Box" Problem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85450" y="2138050"/>
            <a:ext cx="6006575" cy="2965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1476375" y="1943100"/>
            <a:ext cx="43338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Autonomous Verification: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Engineering an XAI-powered checker to transform detection into a legally interpretable format.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1476375" y="2943225"/>
            <a:ext cx="43338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Evidence Immutability: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Establishing a mathematically irrefutable chain of custody through millisecond-level hashing.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476375" y="3943350"/>
            <a:ext cx="43338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Threat Modeling: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Automating telemetry correlation with MITRE ATT&amp;CK for rapid jurisdictional escalation.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1476375" y="4943475"/>
            <a:ext cx="43338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Cloud-Native Deployment: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Designing a decoupled microservices architecture for scalable incident management.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Scope &amp; Objectives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19431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29432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39433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3000" y="49434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54350" y="2223650"/>
            <a:ext cx="5868776" cy="27941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/>
          <p:nvPr/>
        </p:nvSpPr>
        <p:spPr>
          <a:xfrm>
            <a:off x="762000" y="2414587"/>
            <a:ext cx="10668000" cy="2914650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7"/>
          <p:cNvGraphicFramePr/>
          <p:nvPr/>
        </p:nvGraphicFramePr>
        <p:xfrm>
          <a:off x="762000" y="2414587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{3F807F49-AF87-4572-B069-770B760C9373}</a:tableStyleId>
              </a:tblPr>
              <a:tblGrid>
                <a:gridCol w="24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7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Focus Area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Earlier Approaches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CBD5E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W-CERT Paradigm Shift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Evidence Interpretation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Opaque "Black Box" detection outputs.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"Glass Box" XAI Heatmap Rationales.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Chain of Custody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Manual, human-error prone logging.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Automated SHA-256 Digital Fingerprints.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Threat Triage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Static indicators of compromise (IoCs).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Dynamic MITRE ATT&amp;CK Metadata Mapping.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Deployment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Monolithic, high-latency architectures.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Decoupled Cloud-Native Microservices.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6" name="Google Shape;166;p17"/>
          <p:cNvSpPr/>
          <p:nvPr/>
        </p:nvSpPr>
        <p:spPr>
          <a:xfrm>
            <a:off x="762000" y="2976562"/>
            <a:ext cx="245105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3213050" y="2976562"/>
            <a:ext cx="389989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7112942" y="2976562"/>
            <a:ext cx="431705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762000" y="3571875"/>
            <a:ext cx="2451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7"/>
          <p:cNvSpPr/>
          <p:nvPr/>
        </p:nvSpPr>
        <p:spPr>
          <a:xfrm>
            <a:off x="3213050" y="3571875"/>
            <a:ext cx="38998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7"/>
          <p:cNvSpPr/>
          <p:nvPr/>
        </p:nvSpPr>
        <p:spPr>
          <a:xfrm>
            <a:off x="7112942" y="3571875"/>
            <a:ext cx="43170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7"/>
          <p:cNvSpPr/>
          <p:nvPr/>
        </p:nvSpPr>
        <p:spPr>
          <a:xfrm>
            <a:off x="762000" y="4152900"/>
            <a:ext cx="2451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7"/>
          <p:cNvSpPr/>
          <p:nvPr/>
        </p:nvSpPr>
        <p:spPr>
          <a:xfrm>
            <a:off x="3213050" y="4152900"/>
            <a:ext cx="38998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7"/>
          <p:cNvSpPr/>
          <p:nvPr/>
        </p:nvSpPr>
        <p:spPr>
          <a:xfrm>
            <a:off x="7112942" y="4152900"/>
            <a:ext cx="43170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7"/>
          <p:cNvSpPr/>
          <p:nvPr/>
        </p:nvSpPr>
        <p:spPr>
          <a:xfrm>
            <a:off x="762000" y="4733925"/>
            <a:ext cx="2451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7"/>
          <p:cNvSpPr/>
          <p:nvPr/>
        </p:nvSpPr>
        <p:spPr>
          <a:xfrm>
            <a:off x="3213050" y="4733925"/>
            <a:ext cx="38998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7112942" y="4733925"/>
            <a:ext cx="43170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/>
          <p:nvPr/>
        </p:nvSpPr>
        <p:spPr>
          <a:xfrm>
            <a:off x="762000" y="5314950"/>
            <a:ext cx="2451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3213050" y="5314950"/>
            <a:ext cx="389989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7112942" y="5314950"/>
            <a:ext cx="431705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Literature Review Summary</a:t>
            </a:r>
            <a:endParaRPr/>
          </a:p>
        </p:txBody>
      </p:sp>
      <p:sp>
        <p:nvSpPr>
          <p:cNvPr id="182" name="Google Shape;182;p17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749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031750"/>
            <a:ext cx="5300651" cy="3747416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8"/>
          <p:cNvSpPr txBox="1"/>
          <p:nvPr/>
        </p:nvSpPr>
        <p:spPr>
          <a:xfrm>
            <a:off x="6381750" y="242887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Microservices Methodology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6381750" y="28670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W-CERT utilizes a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Microservices-Oriented Paradigm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partitioned into four specialized modules: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6715125" y="3590925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React Dashboard: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Secure ingestion interface.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715125" y="401955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Python Routing Engine: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Core API delegation.</a:t>
            </a:r>
            <a:endParaRPr/>
          </a:p>
        </p:txBody>
      </p:sp>
      <p:sp>
        <p:nvSpPr>
          <p:cNvPr id="193" name="Google Shape;193;p18"/>
          <p:cNvSpPr txBox="1"/>
          <p:nvPr/>
        </p:nvSpPr>
        <p:spPr>
          <a:xfrm>
            <a:off x="6715125" y="4448175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XAI Authenticity Checker: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CNN-based analysis.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715125" y="487680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Cryptographic Layer: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SHA-256 integrity sealing.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System Architecture (MOA)</a:t>
            </a: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590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195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4481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8768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8"/>
          <p:cNvPicPr preferRelativeResize="0"/>
          <p:nvPr/>
        </p:nvPicPr>
        <p:blipFill rotWithShape="1">
          <a:blip r:embed="rId6">
            <a:alphaModFix/>
          </a:blip>
          <a:srcRect t="20" b="20"/>
          <a:stretch/>
        </p:blipFill>
        <p:spPr>
          <a:xfrm>
            <a:off x="902000" y="2127950"/>
            <a:ext cx="5048400" cy="3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81525"/>
            <a:ext cx="49530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571500" y="1066800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XAI Authenticity Checker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571500" y="1762125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Glass-Box Visual Proofs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571500" y="2200275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Post-inference rationales are deployed using SHAP and LIME algorithms to measure feature importance. The engine generates interpretable visual heatmaps.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571500" y="3152775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This delineates exact coordinates of digital manipulation, ensuring technical evidence is understandable for judicial examiners and non-expert legal users.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866775" y="4876800"/>
            <a:ext cx="4362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Recall Rate: 100% in prioritizing high-severity multimedia threats.</a:t>
            </a:r>
            <a:endParaRPr/>
          </a:p>
        </p:txBody>
      </p:sp>
      <p:pic>
        <p:nvPicPr>
          <p:cNvPr id="213" name="Google Shape;21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29750" y="1066788"/>
            <a:ext cx="2686050" cy="492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39025" y="1114413"/>
            <a:ext cx="2857500" cy="482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6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1600" y="3945350"/>
            <a:ext cx="24320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762000" y="2466975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Secure Chain of Custody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762000" y="2905125"/>
            <a:ext cx="50482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Evidence is processed in binary chunks at the millisecond of upload to generate unique digital fingerprints.</a:t>
            </a:r>
            <a:endParaRPr/>
          </a:p>
        </p:txBody>
      </p:sp>
      <p:pic>
        <p:nvPicPr>
          <p:cNvPr id="223" name="Google Shape;223;p20" descr="image.png"/>
          <p:cNvPicPr preferRelativeResize="0"/>
          <p:nvPr/>
        </p:nvPicPr>
        <p:blipFill rotWithShape="1">
          <a:blip r:embed="rId5">
            <a:alphaModFix/>
          </a:blip>
          <a:srcRect t="16426" b="10180"/>
          <a:stretch/>
        </p:blipFill>
        <p:spPr>
          <a:xfrm>
            <a:off x="8993425" y="1410725"/>
            <a:ext cx="2844150" cy="149440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24" name="Google Shape;22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0125" y="4016225"/>
            <a:ext cx="46482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1095375" y="4410075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AES-256 (CBC):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Encrypting sensitive PII at rest.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095375" y="4838700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Data Integrity: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Detects even single-pixel alterations.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Forensic Cryptography</a:t>
            </a:r>
            <a:endParaRPr/>
          </a:p>
        </p:txBody>
      </p:sp>
      <p:sp>
        <p:nvSpPr>
          <p:cNvPr id="228" name="Google Shape;228;p20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9" name="Google Shape;229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4100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62000" y="48387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0"/>
          <p:cNvPicPr preferRelativeResize="0"/>
          <p:nvPr/>
        </p:nvPicPr>
        <p:blipFill rotWithShape="1">
          <a:blip r:embed="rId8">
            <a:alphaModFix/>
          </a:blip>
          <a:srcRect l="2561" t="5101" r="3295" b="10160"/>
          <a:stretch/>
        </p:blipFill>
        <p:spPr>
          <a:xfrm>
            <a:off x="9056275" y="3239525"/>
            <a:ext cx="2743128" cy="3314475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2" name="Google Shape;23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648325" y="1410725"/>
            <a:ext cx="3152028" cy="5143275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1"/>
          <p:cNvSpPr txBox="1"/>
          <p:nvPr/>
        </p:nvSpPr>
        <p:spPr>
          <a:xfrm>
            <a:off x="761990" y="1310207"/>
            <a:ext cx="5556900" cy="460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406" b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91%</a:t>
            </a:r>
            <a:endParaRPr sz="10406" b="1">
              <a:solidFill>
                <a:srgbClr val="38BDF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43" b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Detection Accuracy</a:t>
            </a:r>
            <a:endParaRPr sz="1943" b="1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2250"/>
              </a:spcBef>
              <a:spcAft>
                <a:spcPts val="0"/>
              </a:spcAft>
              <a:buNone/>
            </a:pPr>
            <a:r>
              <a:rPr lang="en-US" sz="1943" b="1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MITRE ATT&amp;CK Correlation</a:t>
            </a:r>
            <a:endParaRPr sz="1943" b="1">
              <a:solidFill>
                <a:srgbClr val="38BDF8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1388" b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The backend correlates incident metadata against standardized global frameworks to automate triage.</a:t>
            </a:r>
            <a:endParaRPr sz="1388" b="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r>
              <a:rPr lang="en-US" sz="1526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 </a:t>
            </a:r>
            <a:r>
              <a:rPr lang="en-US" sz="1526" b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NLP Parsing:</a:t>
            </a:r>
            <a:r>
              <a:rPr lang="en-US" sz="1526" b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Scanning descriptions for TTP keywords.</a:t>
            </a:r>
            <a:endParaRPr sz="1526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26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 </a:t>
            </a:r>
            <a:r>
              <a:rPr lang="en-US" sz="1526" b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Severity Routing:</a:t>
            </a:r>
            <a:r>
              <a:rPr lang="en-US" sz="1526" b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Automated prioritization of life-threatening vectors like sextortion.</a:t>
            </a:r>
            <a:endParaRPr sz="1526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526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check_circle </a:t>
            </a:r>
            <a:r>
              <a:rPr lang="en-US" sz="1526" b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Zero-Latency Lookup:</a:t>
            </a:r>
            <a:r>
              <a:rPr lang="en-US" sz="1526" b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O(1) dictionary-based indicator matching.</a:t>
            </a:r>
            <a:endParaRPr sz="1526">
              <a:solidFill>
                <a:srgbClr val="38BDF8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239" name="Google Shape;239;p21"/>
          <p:cNvSpPr txBox="1"/>
          <p:nvPr/>
        </p:nvSpPr>
        <p:spPr>
          <a:xfrm>
            <a:off x="987965" y="571500"/>
            <a:ext cx="1095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Heuristic Threat Intelligence</a:t>
            </a:r>
            <a:endParaRPr/>
          </a:p>
        </p:txBody>
      </p:sp>
      <p:sp>
        <p:nvSpPr>
          <p:cNvPr id="240" name="Google Shape;240;p21"/>
          <p:cNvSpPr/>
          <p:nvPr/>
        </p:nvSpPr>
        <p:spPr>
          <a:xfrm>
            <a:off x="762000" y="571500"/>
            <a:ext cx="76200" cy="504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1"/>
          <p:cNvPicPr preferRelativeResize="0"/>
          <p:nvPr/>
        </p:nvPicPr>
        <p:blipFill rotWithShape="1">
          <a:blip r:embed="rId4">
            <a:alphaModFix/>
          </a:blip>
          <a:srcRect r="2172" b="18752"/>
          <a:stretch/>
        </p:blipFill>
        <p:spPr>
          <a:xfrm>
            <a:off x="6124338" y="1221225"/>
            <a:ext cx="2963900" cy="5505150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2" name="Google Shape;24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15665" y="1221225"/>
            <a:ext cx="2745382" cy="2207775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43" name="Google Shape;24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15675" y="3570833"/>
            <a:ext cx="2745375" cy="3132411"/>
          </a:xfrm>
          <a:prstGeom prst="rect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1209004" y="993425"/>
            <a:ext cx="61245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Frontend Orchestration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1209000" y="1821100"/>
            <a:ext cx="44889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The Analyst Dashboard, built on React, facilitates high-performance visualization of massive threat datasets and XAI heatmaps with zero operational latency.</a:t>
            </a:r>
            <a:endParaRPr/>
          </a:p>
        </p:txBody>
      </p:sp>
      <p:pic>
        <p:nvPicPr>
          <p:cNvPr id="251" name="Google Shape;251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7625" y="2243825"/>
            <a:ext cx="6036374" cy="441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/>
          <p:nvPr/>
        </p:nvSpPr>
        <p:spPr>
          <a:xfrm>
            <a:off x="5619750" y="252888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2035492" y="2862262"/>
            <a:ext cx="8121015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Performance Evaluation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2228850" y="3871912"/>
            <a:ext cx="77343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Stress testing against production-proximate incident telemetry datasets.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1871662"/>
            <a:ext cx="10668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4"/>
          <p:cNvSpPr txBox="1"/>
          <p:nvPr/>
        </p:nvSpPr>
        <p:spPr>
          <a:xfrm>
            <a:off x="762000" y="5491162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Experimental Sample: 221 telemetry points programmatically ingested.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6791325" y="2395537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Phishing (32.6%)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6791325" y="2795587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Social Engineering (14.9%)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6791325" y="3195637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Sextortion (7.7%)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6791325" y="3595687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Financial Fraud (6.8%)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6791325" y="3995737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Cyber Stalking (5.0%)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6791325" y="4395787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Unknown / Benign (33%)</a:t>
            </a:r>
            <a:endParaRPr/>
          </a:p>
        </p:txBody>
      </p:sp>
      <p:sp>
        <p:nvSpPr>
          <p:cNvPr id="273" name="Google Shape;273;p24"/>
          <p:cNvSpPr/>
          <p:nvPr/>
        </p:nvSpPr>
        <p:spPr>
          <a:xfrm>
            <a:off x="6577025" y="2424112"/>
            <a:ext cx="171600" cy="171600"/>
          </a:xfrm>
          <a:prstGeom prst="roundRect">
            <a:avLst>
              <a:gd name="adj" fmla="val 22222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6577012" y="2795587"/>
            <a:ext cx="171600" cy="171600"/>
          </a:xfrm>
          <a:prstGeom prst="roundRect">
            <a:avLst>
              <a:gd name="adj" fmla="val 22222"/>
            </a:avLst>
          </a:prstGeom>
          <a:solidFill>
            <a:srgbClr val="FBBF2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6577075" y="3198024"/>
            <a:ext cx="171600" cy="171600"/>
          </a:xfrm>
          <a:prstGeom prst="roundRect">
            <a:avLst>
              <a:gd name="adj" fmla="val 22222"/>
            </a:avLst>
          </a:prstGeom>
          <a:solidFill>
            <a:srgbClr val="F43F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6577075" y="3600487"/>
            <a:ext cx="171600" cy="171600"/>
          </a:xfrm>
          <a:prstGeom prst="roundRect">
            <a:avLst>
              <a:gd name="adj" fmla="val 22222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6577075" y="4002937"/>
            <a:ext cx="171600" cy="171600"/>
          </a:xfrm>
          <a:prstGeom prst="roundRect">
            <a:avLst>
              <a:gd name="adj" fmla="val 22222"/>
            </a:avLst>
          </a:prstGeom>
          <a:solidFill>
            <a:srgbClr val="34D3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6577000" y="4405375"/>
            <a:ext cx="171600" cy="171600"/>
          </a:xfrm>
          <a:prstGeom prst="roundRect">
            <a:avLst>
              <a:gd name="adj" fmla="val 22222"/>
            </a:avLst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Attack Vector Distribution</a:t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4624387"/>
            <a:ext cx="10668000" cy="87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1457325"/>
            <a:ext cx="10668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1057275" y="4919662"/>
            <a:ext cx="10077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Recall Rate: 100% in escalating high-severity, life-threatening vectors.</a:t>
            </a:r>
            <a:endParaRPr/>
          </a:p>
        </p:txBody>
      </p:sp>
      <p:sp>
        <p:nvSpPr>
          <p:cNvPr id="289" name="Google Shape;289;p25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Severity Triage Distribution</a:t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209925"/>
            <a:ext cx="50482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085975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6"/>
          <p:cNvSpPr txBox="1"/>
          <p:nvPr/>
        </p:nvSpPr>
        <p:spPr>
          <a:xfrm>
            <a:off x="762000" y="2447925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Nishinth Venkatesh</a:t>
            </a:r>
            <a:endParaRPr/>
          </a:p>
        </p:txBody>
      </p:sp>
      <p:sp>
        <p:nvSpPr>
          <p:cNvPr id="299" name="Google Shape;299;p26"/>
          <p:cNvSpPr txBox="1"/>
          <p:nvPr/>
        </p:nvSpPr>
        <p:spPr>
          <a:xfrm>
            <a:off x="1057275" y="3505200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Aim: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To engineer REST API routing, manage cloud deployments, and automate threat triage.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1057275" y="4171950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Deploy a heuristic engine for parsing telemetry to established cyber threat vectors.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7096125" y="3362325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Architected core Python/Flask routing engine.</a:t>
            </a:r>
            <a:endParaRPr/>
          </a:p>
        </p:txBody>
      </p:sp>
      <p:sp>
        <p:nvSpPr>
          <p:cNvPr id="302" name="Google Shape;302;p26"/>
          <p:cNvSpPr txBox="1"/>
          <p:nvPr/>
        </p:nvSpPr>
        <p:spPr>
          <a:xfrm>
            <a:off x="7096125" y="3790950"/>
            <a:ext cx="4333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Developed weighted multi-category threat scoring algorithm.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7096125" y="4505325"/>
            <a:ext cx="4333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Enforced secure environment configuration (.env).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7096125" y="5219700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Coordinated overall project documentation.</a:t>
            </a:r>
            <a:endParaRPr/>
          </a:p>
        </p:txBody>
      </p:sp>
      <p:sp>
        <p:nvSpPr>
          <p:cNvPr id="305" name="Google Shape;305;p26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Individual Details</a:t>
            </a:r>
            <a:endParaRPr/>
          </a:p>
        </p:txBody>
      </p:sp>
      <p:sp>
        <p:nvSpPr>
          <p:cNvPr id="306" name="Google Shape;306;p26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362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79095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505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2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5219700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352800"/>
            <a:ext cx="50482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228850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 txBox="1"/>
          <p:nvPr/>
        </p:nvSpPr>
        <p:spPr>
          <a:xfrm>
            <a:off x="762000" y="2590800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Ayush Hemant Dhore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1057275" y="3648075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Aim: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To secure digital evidence and establish an encrypted connection to the database.</a:t>
            </a:r>
            <a:endParaRPr/>
          </a:p>
        </p:txBody>
      </p:sp>
      <p:sp>
        <p:nvSpPr>
          <p:cNvPr id="320" name="Google Shape;320;p27"/>
          <p:cNvSpPr txBox="1"/>
          <p:nvPr/>
        </p:nvSpPr>
        <p:spPr>
          <a:xfrm>
            <a:off x="1057275" y="4314825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Implement SHA-256 hashing and AES-256 protocols for forensic repositories.</a:t>
            </a:r>
            <a:endParaRPr/>
          </a:p>
        </p:txBody>
      </p:sp>
      <p:sp>
        <p:nvSpPr>
          <p:cNvPr id="321" name="Google Shape;321;p27"/>
          <p:cNvSpPr txBox="1"/>
          <p:nvPr/>
        </p:nvSpPr>
        <p:spPr>
          <a:xfrm>
            <a:off x="7096125" y="3505200"/>
            <a:ext cx="4333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Engineered Cryptographic utility scripts for hashing.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7096125" y="4219575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Implemented AES-256 CBC encryption for PII.</a:t>
            </a:r>
            <a:endParaRPr/>
          </a:p>
        </p:txBody>
      </p:sp>
      <p:sp>
        <p:nvSpPr>
          <p:cNvPr id="323" name="Google Shape;323;p27"/>
          <p:cNvSpPr txBox="1"/>
          <p:nvPr/>
        </p:nvSpPr>
        <p:spPr>
          <a:xfrm>
            <a:off x="7096125" y="4648200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Managed Google Sheets API write orchestration.</a:t>
            </a:r>
            <a:endParaRPr/>
          </a:p>
        </p:txBody>
      </p:sp>
      <p:sp>
        <p:nvSpPr>
          <p:cNvPr id="324" name="Google Shape;324;p27"/>
          <p:cNvSpPr txBox="1"/>
          <p:nvPr/>
        </p:nvSpPr>
        <p:spPr>
          <a:xfrm>
            <a:off x="7096125" y="5076825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Enforced millisecond-level chain of custody.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Individual Details</a:t>
            </a:r>
            <a:endParaRPr/>
          </a:p>
        </p:txBody>
      </p:sp>
      <p:sp>
        <p:nvSpPr>
          <p:cNvPr id="326" name="Google Shape;326;p27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7" name="Google Shape;327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505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21957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648200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5076825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471862"/>
            <a:ext cx="504825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347912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/>
        </p:nvSpPr>
        <p:spPr>
          <a:xfrm>
            <a:off x="762000" y="2709862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Neel Harshad Karnavat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1057275" y="3767137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Aim: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To train detection models and implement XAI to provide interpretable visual proofs.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1057275" y="4433887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Transform black-box AI outputs into transparent, "glass-box" forensic formats.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7096125" y="3624262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Built ResNet-based CNN for forgery detection.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7096125" y="4052887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Integrated SHAP/LIME explanation frameworks.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7096125" y="4481512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Developed automated heatmap generation logic.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7096125" y="4910137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Managed forensic model metrics and validation.</a:t>
            </a:r>
            <a:endParaRPr/>
          </a:p>
        </p:txBody>
      </p:sp>
      <p:sp>
        <p:nvSpPr>
          <p:cNvPr id="345" name="Google Shape;345;p28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Individual Details</a:t>
            </a:r>
            <a:endParaRPr/>
          </a:p>
        </p:txBody>
      </p:sp>
      <p:sp>
        <p:nvSpPr>
          <p:cNvPr id="346" name="Google Shape;346;p28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624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052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4815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9101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471850"/>
            <a:ext cx="5048250" cy="200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2347912"/>
            <a:ext cx="10668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9"/>
          <p:cNvSpPr txBox="1"/>
          <p:nvPr/>
        </p:nvSpPr>
        <p:spPr>
          <a:xfrm>
            <a:off x="762000" y="2709862"/>
            <a:ext cx="11201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Sarthak Anil Paymode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1057275" y="3767137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Aim: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To engineer a responsive GUI optimized for high-stress incident reporting.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1057275" y="4433887"/>
            <a:ext cx="44577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Objective: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Implement dynamic state management for real-time forensic telemetry rendering.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7096125" y="3624262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Developed React.js component-based console.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7096125" y="4052887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Managed multipart/form-data buffering logic.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7096125" y="4481512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Integrated Axios for secure HTTP orchestration.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7096125" y="4910137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Designed real-time XAI heatmap overlays.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Individual Details</a:t>
            </a:r>
            <a:endParaRPr/>
          </a:p>
        </p:txBody>
      </p:sp>
      <p:sp>
        <p:nvSpPr>
          <p:cNvPr id="366" name="Google Shape;366;p29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6242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0528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4815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4910137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75" y="-95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0"/>
          <p:cNvSpPr txBox="1"/>
          <p:nvPr/>
        </p:nvSpPr>
        <p:spPr>
          <a:xfrm>
            <a:off x="762000" y="2843212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Publications</a:t>
            </a:r>
            <a:endParaRPr/>
          </a:p>
        </p:txBody>
      </p:sp>
      <p:sp>
        <p:nvSpPr>
          <p:cNvPr id="377" name="Google Shape;377;p30"/>
          <p:cNvSpPr txBox="1"/>
          <p:nvPr/>
        </p:nvSpPr>
        <p:spPr>
          <a:xfrm>
            <a:off x="6381750" y="2843212"/>
            <a:ext cx="530066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Future Prospects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1095375" y="3319462"/>
            <a:ext cx="4714800" cy="15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7307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solidFill>
                  <a:srgbClr val="A7D5E1"/>
                </a:solidFill>
                <a:highlight>
                  <a:srgbClr val="0F172A"/>
                </a:highlight>
                <a:uFill>
                  <a:noFill/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Securing Electronic Patient Health Information (ePHI): An Analysis of Data Security and Compliance with Privacy Regulations</a:t>
            </a:r>
            <a:endParaRPr sz="1600" b="1">
              <a:solidFill>
                <a:srgbClr val="A7D5E1"/>
              </a:solidFill>
              <a:highlight>
                <a:srgbClr val="0F172A"/>
              </a:highlight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None/>
            </a:pPr>
            <a:endParaRPr sz="1500" b="1">
              <a:solidFill>
                <a:schemeClr val="lt1"/>
              </a:solidFill>
              <a:highlight>
                <a:srgbClr val="0F172A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79" name="Google Shape;379;p30"/>
          <p:cNvSpPr txBox="1"/>
          <p:nvPr/>
        </p:nvSpPr>
        <p:spPr>
          <a:xfrm>
            <a:off x="1095375" y="4489850"/>
            <a:ext cx="47148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Implementation: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Prepared for submission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6715125" y="3319462"/>
            <a:ext cx="47148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Blockchain-based Decentralized Chain of Custody (Hyperledger).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6715125" y="4033837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Real-time Live Video Face-Swap Forensics.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6715125" y="4462462"/>
            <a:ext cx="471487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Automated Dark-Web PII Monitoring microservices.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1000125" y="571500"/>
            <a:ext cx="109513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Publications &amp; Future Prospects</a:t>
            </a:r>
            <a:endParaRPr/>
          </a:p>
        </p:txBody>
      </p:sp>
      <p:sp>
        <p:nvSpPr>
          <p:cNvPr id="384" name="Google Shape;384;p30"/>
          <p:cNvSpPr/>
          <p:nvPr/>
        </p:nvSpPr>
        <p:spPr>
          <a:xfrm>
            <a:off x="762000" y="571500"/>
            <a:ext cx="7620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5" name="Google Shape;385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3319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45053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33194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03383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44624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275" y="-9537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1"/>
          <p:cNvSpPr/>
          <p:nvPr/>
        </p:nvSpPr>
        <p:spPr>
          <a:xfrm>
            <a:off x="762000" y="571500"/>
            <a:ext cx="76200" cy="5049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1"/>
          <p:cNvSpPr txBox="1"/>
          <p:nvPr/>
        </p:nvSpPr>
        <p:spPr>
          <a:xfrm>
            <a:off x="1000125" y="571500"/>
            <a:ext cx="109515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References</a:t>
            </a:r>
            <a:endParaRPr/>
          </a:p>
        </p:txBody>
      </p:sp>
      <p:grpSp>
        <p:nvGrpSpPr>
          <p:cNvPr id="397" name="Google Shape;397;p31"/>
          <p:cNvGrpSpPr/>
          <p:nvPr/>
        </p:nvGrpSpPr>
        <p:grpSpPr>
          <a:xfrm>
            <a:off x="762000" y="1333500"/>
            <a:ext cx="10668000" cy="4953000"/>
            <a:chOff x="762000" y="1333500"/>
            <a:chExt cx="10668000" cy="4953000"/>
          </a:xfrm>
        </p:grpSpPr>
        <p:sp>
          <p:nvSpPr>
            <p:cNvPr id="398" name="Google Shape;398;p31"/>
            <p:cNvSpPr txBox="1"/>
            <p:nvPr/>
          </p:nvSpPr>
          <p:spPr>
            <a:xfrm>
              <a:off x="762000" y="1333500"/>
              <a:ext cx="5143500" cy="49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[1] Z. Khalid et al., "Towards a unified XAI-based framework for digital forensic investigations," Forensic Science International: Digital Investigation, 2024.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[2] N. Bharati et al., "Explainable deepfake detection: A multi-model framework... for legal investigation purposes," Machine Learning with Applications, vol. 23, 2025.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[3] F. Khalid et al., "DFP-Net: An explainable and trustworthy framework for detecting deepfakes using interpretable prototypes," in IEEE IJCB, 2023.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[4] S. Tariq et al., "From Prediction to Explanation: Multimodal, Explainable, and Interactive Deepfake detection Framework," ACM Multimedia, 2025.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[5] L. Xia et al., "From Black Boxes to Glass Boxes: Explainable AI for Trustworthy Deepfake Forensics," MDPI / Journal of Imaging, 2024.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[6] "Opportunities and Challenges of Artificial Intelligence in Digital Forensics," IJSECS, 2025.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[7] "A Multi-Protocol, Explainable AI-Based Framework for Real-Time IoT Forensics," in I5CPS, 2026.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[8] M. H. Maruf, "Developing an Explainable AI System for Digital Forensics," ResearchGate, 2025.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[9] S. H. Silva et al., "Deepfake forensics analysis: An explainable hierarchical ensemble of weakly supervised models," FSI: Synergy, 2022.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[10] B. Saha &amp; A. K. Khan, "Investigation of AI-based Deepfake Evidence: A Digital Forensics Approach," ResearchGate, 2026.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[11] T. O'Brien, "MITRE ATT&amp;CK Labeling of Cyber Threat Intelligence via LLM," SANS Institute, 2025.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[12] "MITRE ATT&amp;CK Applications in Cybersecurity and The Way Forward," arXiv, 2025.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[13] "MITRE ATT&amp;CK: State of the Art and Way Forward," ResearchGate, 2024.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99" name="Google Shape;399;p31"/>
            <p:cNvSpPr txBox="1"/>
            <p:nvPr/>
          </p:nvSpPr>
          <p:spPr>
            <a:xfrm>
              <a:off x="6286500" y="1333500"/>
              <a:ext cx="5143500" cy="4953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[14] C. Ekisa &amp; D. Ó Briain, "Leveraging the MITRE ATT&amp;CK Framework for Threat Identification... in ICS Simulations," IEEE, 2024.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[15] G. P. Singh et al., "NLP-based Cyber Threat Data Analysis with MITRE ATT&amp;CK Techniques," ResearchGate, 2023.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[16] B. Al-Sada et al., "Analysis and Characterization of Cyber Threats Leveraging the MITRE ATT&amp;CK Database," IEEE Access, 2023.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[17] "Cybersecurity Threat Intelligence Automated via Machine Learning: A System for Analyzing Data in Real-Time," IEEE, 2025.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[18] "Applying AI and Machine Learning to Enhance Automated Cybersecurity and Network Threat Identification," ResearchGate, 2024.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[19] I. A. Haji et al., "Blockchain based chain of custody and digital evidence legality in post conflict prosecutions," Frontiers in Blockchain, 2026.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[20] M. T. P. Mukti et al., "Blockchain-Based Chain of Custody in Digital Forensics," Forensics &amp; Security Journal, 2025.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[21] D. Batista et al., "Exploring Blockchain Technology for Chain of Custody Control in Physical Evidence," J. Risk Financial Mgmt, 2023.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[22] S. Nath et al., "Digital Evidence Chain of Custody: Navigating New Realities of Digital Forensics," in IEEE TPS-ISA, 2024.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[23] "Blockchain-Based Chain of Custody Evidence Management System for Digital Forensic Investigations," IEEE, 2024.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[24] K. M. M. Salih &amp; N. Ibrahim, "CustodyChainGuardian: Blockchain of Custody Digital Evidence Preservation System," IEEE, 2023.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CBD5E1"/>
                  </a:solidFill>
                  <a:latin typeface="DM Sans"/>
                  <a:ea typeface="DM Sans"/>
                  <a:cs typeface="DM Sans"/>
                  <a:sym typeface="DM Sans"/>
                </a:rPr>
                <a:t>[25] "Management of the Chain of Custody of Digital Evidence Using Blockchain and Self-Sovereign Identities," IEEE Access, 2025.</a:t>
              </a:r>
              <a:endParaRPr sz="115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14687" y="4454723"/>
            <a:ext cx="5762625" cy="771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00687" y="1631602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2"/>
          <p:cNvSpPr txBox="1"/>
          <p:nvPr/>
        </p:nvSpPr>
        <p:spPr>
          <a:xfrm>
            <a:off x="3070621" y="2869852"/>
            <a:ext cx="6050756" cy="670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THANK </a:t>
            </a:r>
            <a:r>
              <a:rPr lang="en-US" sz="4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YOU</a:t>
            </a:r>
            <a:endParaRPr/>
          </a:p>
        </p:txBody>
      </p:sp>
      <p:sp>
        <p:nvSpPr>
          <p:cNvPr id="408" name="Google Shape;408;p32"/>
          <p:cNvSpPr txBox="1"/>
          <p:nvPr/>
        </p:nvSpPr>
        <p:spPr>
          <a:xfrm>
            <a:off x="3214687" y="3730823"/>
            <a:ext cx="5762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Questions &amp; Discussion | MIT-WPU Capstone 2025-26</a:t>
            </a:r>
            <a:endParaRPr/>
          </a:p>
        </p:txBody>
      </p:sp>
      <p:sp>
        <p:nvSpPr>
          <p:cNvPr id="409" name="Google Shape;409;p32"/>
          <p:cNvSpPr txBox="1"/>
          <p:nvPr/>
        </p:nvSpPr>
        <p:spPr>
          <a:xfrm>
            <a:off x="3405187" y="4654748"/>
            <a:ext cx="53816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Nishinth V. | Ayush D. | Neel K. | Sarthak P.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1617</Words>
  <Application>Microsoft Office PowerPoint</Application>
  <PresentationFormat>Widescreen</PresentationFormat>
  <Paragraphs>156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Urbanist</vt:lpstr>
      <vt:lpstr>DM Sans</vt:lpstr>
      <vt:lpstr>Calibri</vt:lpstr>
      <vt:lpstr>Arial</vt:lpstr>
      <vt:lpstr>Material Icons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Nishinth Venkatesh</cp:lastModifiedBy>
  <cp:revision>1</cp:revision>
  <dcterms:modified xsi:type="dcterms:W3CDTF">2026-05-07T19:56:29Z</dcterms:modified>
</cp:coreProperties>
</file>